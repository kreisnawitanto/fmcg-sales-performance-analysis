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Balsamiq Sans"/>
      <p:regular r:id="rId25"/>
      <p:bold r:id="rId26"/>
      <p:italic r:id="rId27"/>
      <p:boldItalic r:id="rId28"/>
    </p:embeddedFont>
    <p:embeddedFont>
      <p:font typeface="Poppi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jYkF7p2Hce/7O4eVSFwq/Ap0fz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lsamiqSans-bold.fntdata"/><Relationship Id="rId25" Type="http://schemas.openxmlformats.org/officeDocument/2006/relationships/font" Target="fonts/BalsamiqSans-regular.fntdata"/><Relationship Id="rId28" Type="http://schemas.openxmlformats.org/officeDocument/2006/relationships/font" Target="fonts/BalsamiqSans-boldItalic.fntdata"/><Relationship Id="rId27" Type="http://schemas.openxmlformats.org/officeDocument/2006/relationships/font" Target="fonts/Balsamiq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6" name="Google Shape;56;p1" title="BT Data Analyst (9).png"/>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2" name="Google Shape;6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3" name="Google Shape;63;p2" title="BT Data Analyst (1).png"/>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9" name="Google Shape;69;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0" name="Google Shape;70;p3" title="BT Data Analyst (4).png"/>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1" name="Google Shape;71;p3"/>
          <p:cNvSpPr txBox="1"/>
          <p:nvPr/>
        </p:nvSpPr>
        <p:spPr>
          <a:xfrm>
            <a:off x="3916474" y="619425"/>
            <a:ext cx="4915825" cy="141574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ID" sz="4000" u="none" cap="none" strike="noStrike">
                <a:solidFill>
                  <a:srgbClr val="000000"/>
                </a:solidFill>
                <a:latin typeface="Poppins"/>
                <a:ea typeface="Poppins"/>
                <a:cs typeface="Poppins"/>
                <a:sym typeface="Poppins"/>
              </a:rPr>
              <a:t>Hi!</a:t>
            </a:r>
            <a:endParaRPr/>
          </a:p>
          <a:p>
            <a:pPr indent="0" lvl="0" marL="0" marR="0" rtl="0" algn="l">
              <a:lnSpc>
                <a:spcPct val="100000"/>
              </a:lnSpc>
              <a:spcBef>
                <a:spcPts val="0"/>
              </a:spcBef>
              <a:spcAft>
                <a:spcPts val="0"/>
              </a:spcAft>
              <a:buNone/>
            </a:pPr>
            <a:r>
              <a:rPr b="1" i="0" lang="en-ID" sz="4000" u="none" cap="none" strike="noStrike">
                <a:solidFill>
                  <a:srgbClr val="000000"/>
                </a:solidFill>
                <a:latin typeface="Poppins"/>
                <a:ea typeface="Poppins"/>
                <a:cs typeface="Poppins"/>
                <a:sym typeface="Poppins"/>
              </a:rPr>
              <a:t>Namaku Kreisna</a:t>
            </a:r>
            <a:endParaRPr b="0" i="0" sz="2800" u="none" cap="none" strike="noStrike">
              <a:solidFill>
                <a:srgbClr val="000000"/>
              </a:solidFill>
              <a:latin typeface="Arial"/>
              <a:ea typeface="Arial"/>
              <a:cs typeface="Arial"/>
              <a:sym typeface="Arial"/>
            </a:endParaRPr>
          </a:p>
        </p:txBody>
      </p:sp>
      <p:sp>
        <p:nvSpPr>
          <p:cNvPr id="72" name="Google Shape;72;p3"/>
          <p:cNvSpPr txBox="1"/>
          <p:nvPr/>
        </p:nvSpPr>
        <p:spPr>
          <a:xfrm>
            <a:off x="3916474" y="2130675"/>
            <a:ext cx="4915825" cy="212516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ID" sz="1300" u="none" cap="none" strike="noStrike">
                <a:solidFill>
                  <a:schemeClr val="dk1"/>
                </a:solidFill>
                <a:latin typeface="Poppins"/>
                <a:ea typeface="Poppins"/>
                <a:cs typeface="Poppins"/>
                <a:sym typeface="Poppins"/>
              </a:rPr>
              <a:t>Nama Lengkap : Kreisna Witanto</a:t>
            </a:r>
            <a:endParaRPr b="0" i="0" sz="13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0" i="0" sz="1300" u="none" cap="none" strike="noStrike">
              <a:solidFill>
                <a:schemeClr val="dk1"/>
              </a:solidFill>
              <a:latin typeface="Poppins"/>
              <a:ea typeface="Poppins"/>
              <a:cs typeface="Poppins"/>
              <a:sym typeface="Poppins"/>
            </a:endParaRPr>
          </a:p>
          <a:p>
            <a:pPr indent="0" lvl="0" marL="0" marR="0" rtl="0" algn="just">
              <a:lnSpc>
                <a:spcPct val="110000"/>
              </a:lnSpc>
              <a:spcBef>
                <a:spcPts val="0"/>
              </a:spcBef>
              <a:spcAft>
                <a:spcPts val="0"/>
              </a:spcAft>
              <a:buClr>
                <a:schemeClr val="dk1"/>
              </a:buClr>
              <a:buSzPts val="715"/>
              <a:buFont typeface="Arial"/>
              <a:buNone/>
            </a:pPr>
            <a:r>
              <a:rPr b="0" i="0" lang="en-ID" sz="1300" u="none" cap="none" strike="noStrike">
                <a:solidFill>
                  <a:schemeClr val="dk1"/>
                </a:solidFill>
                <a:latin typeface="Poppins"/>
                <a:ea typeface="Poppins"/>
                <a:cs typeface="Poppins"/>
                <a:sym typeface="Poppins"/>
              </a:rPr>
              <a:t>Dengan mengikuti bootcamp Data Analyst di KarirNex ini saya berharap bisa memperdalam kemampuan saya dalam pengolahan data tingkat lanjut, saya menguasai bagaimana mengubah data mentah menjadi insight yang bernilai melalui visualisasi dengan Power BI dan Looker Studio , serta bisa menerapkan ilmu tersebut dalam pemecahan kasus nyata.</a:t>
            </a:r>
            <a:endParaRPr b="0" i="0" sz="1300" u="none" cap="none" strike="noStrike">
              <a:solidFill>
                <a:srgbClr val="000000"/>
              </a:solidFill>
              <a:latin typeface="Arial"/>
              <a:ea typeface="Arial"/>
              <a:cs typeface="Arial"/>
              <a:sym typeface="Arial"/>
            </a:endParaRPr>
          </a:p>
        </p:txBody>
      </p:sp>
      <p:sp>
        <p:nvSpPr>
          <p:cNvPr id="73" name="Google Shape;73;p3"/>
          <p:cNvSpPr txBox="1"/>
          <p:nvPr/>
        </p:nvSpPr>
        <p:spPr>
          <a:xfrm>
            <a:off x="1131100" y="1673725"/>
            <a:ext cx="13632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595959"/>
              </a:solidFill>
              <a:latin typeface="Balsamiq Sans"/>
              <a:ea typeface="Balsamiq Sans"/>
              <a:cs typeface="Balsamiq Sans"/>
              <a:sym typeface="Balsamiq Sans"/>
            </a:endParaRPr>
          </a:p>
        </p:txBody>
      </p:sp>
      <p:pic>
        <p:nvPicPr>
          <p:cNvPr id="74" name="Google Shape;74;p3"/>
          <p:cNvPicPr preferRelativeResize="0"/>
          <p:nvPr/>
        </p:nvPicPr>
        <p:blipFill rotWithShape="1">
          <a:blip r:embed="rId4">
            <a:alphaModFix/>
          </a:blip>
          <a:srcRect b="0" l="0" r="0" t="0"/>
          <a:stretch/>
        </p:blipFill>
        <p:spPr>
          <a:xfrm>
            <a:off x="566025" y="854964"/>
            <a:ext cx="2869250" cy="2494185"/>
          </a:xfrm>
          <a:prstGeom prst="rect">
            <a:avLst/>
          </a:prstGeom>
          <a:noFill/>
          <a:ln>
            <a:noFill/>
          </a:ln>
        </p:spPr>
      </p:pic>
      <p:pic>
        <p:nvPicPr>
          <p:cNvPr id="75" name="Google Shape;75;p3"/>
          <p:cNvPicPr preferRelativeResize="0"/>
          <p:nvPr/>
        </p:nvPicPr>
        <p:blipFill rotWithShape="1">
          <a:blip r:embed="rId5">
            <a:alphaModFix/>
          </a:blip>
          <a:srcRect b="0" l="0" r="0" t="0"/>
          <a:stretch/>
        </p:blipFill>
        <p:spPr>
          <a:xfrm>
            <a:off x="566025" y="778468"/>
            <a:ext cx="2869250" cy="35865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1" name="Google Shape;81;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2" name="Google Shape;82;p4" title="BT Data Analyst (4).png"/>
          <p:cNvPicPr preferRelativeResize="0"/>
          <p:nvPr/>
        </p:nvPicPr>
        <p:blipFill rotWithShape="1">
          <a:blip r:embed="rId3">
            <a:alphaModFix/>
          </a:blip>
          <a:srcRect b="0" l="0" r="0" t="0"/>
          <a:stretch/>
        </p:blipFill>
        <p:spPr>
          <a:xfrm>
            <a:off x="39000" y="0"/>
            <a:ext cx="9144000" cy="5143500"/>
          </a:xfrm>
          <a:prstGeom prst="rect">
            <a:avLst/>
          </a:prstGeom>
          <a:noFill/>
          <a:ln>
            <a:noFill/>
          </a:ln>
        </p:spPr>
      </p:pic>
      <p:sp>
        <p:nvSpPr>
          <p:cNvPr id="83" name="Google Shape;83;p4"/>
          <p:cNvSpPr txBox="1"/>
          <p:nvPr/>
        </p:nvSpPr>
        <p:spPr>
          <a:xfrm>
            <a:off x="39000" y="840500"/>
            <a:ext cx="9066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ID" sz="3000" u="none" cap="none" strike="noStrike">
                <a:solidFill>
                  <a:schemeClr val="dk1"/>
                </a:solidFill>
                <a:latin typeface="Poppins"/>
                <a:ea typeface="Poppins"/>
                <a:cs typeface="Poppins"/>
                <a:sym typeface="Poppins"/>
              </a:rPr>
              <a:t>Skill Data Analyst Yang Dikuasai</a:t>
            </a:r>
            <a:endParaRPr b="1" i="0" sz="3000" u="none" cap="none" strike="noStrike">
              <a:solidFill>
                <a:schemeClr val="dk1"/>
              </a:solidFill>
              <a:latin typeface="Poppins"/>
              <a:ea typeface="Poppins"/>
              <a:cs typeface="Poppins"/>
              <a:sym typeface="Poppins"/>
            </a:endParaRPr>
          </a:p>
        </p:txBody>
      </p:sp>
      <p:sp>
        <p:nvSpPr>
          <p:cNvPr id="84" name="Google Shape;84;p4"/>
          <p:cNvSpPr txBox="1"/>
          <p:nvPr/>
        </p:nvSpPr>
        <p:spPr>
          <a:xfrm>
            <a:off x="1027550" y="1820125"/>
            <a:ext cx="3544500" cy="2401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Fundamental Data Analyst</a:t>
            </a:r>
            <a:endParaRPr b="1" i="0" sz="1800" u="none" cap="none" strike="noStrike">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Systematic Data Analys</a:t>
            </a:r>
            <a:endParaRPr b="1" i="0" sz="1800" u="none" cap="none" strike="noStrike">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Data formatting</a:t>
            </a:r>
            <a:endParaRPr b="1" i="0" sz="1800" u="none" cap="none" strike="noStrike">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Data cleansing dengan Excel dan SQL</a:t>
            </a:r>
            <a:endParaRPr b="1" i="0" sz="1800" u="none" cap="none" strike="noStrike">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Pengantar phyton. </a:t>
            </a:r>
            <a:endParaRPr b="1" i="0" sz="1800" u="none" cap="none" strike="noStrike">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i="0" lang="en-ID" sz="1800" u="none" cap="none" strike="noStrike">
                <a:solidFill>
                  <a:schemeClr val="dk1"/>
                </a:solidFill>
                <a:latin typeface="Poppins"/>
                <a:ea typeface="Poppins"/>
                <a:cs typeface="Poppins"/>
                <a:sym typeface="Poppins"/>
              </a:rPr>
              <a:t>Praktik Excel dan SQL</a:t>
            </a:r>
            <a:endParaRPr b="1" i="0" sz="1800" u="none" cap="none" strike="noStrike">
              <a:solidFill>
                <a:schemeClr val="dk1"/>
              </a:solidFill>
              <a:latin typeface="Poppins"/>
              <a:ea typeface="Poppins"/>
              <a:cs typeface="Poppins"/>
              <a:sym typeface="Poppins"/>
            </a:endParaRPr>
          </a:p>
        </p:txBody>
      </p:sp>
      <p:sp>
        <p:nvSpPr>
          <p:cNvPr id="85" name="Google Shape;85;p4"/>
          <p:cNvSpPr txBox="1"/>
          <p:nvPr/>
        </p:nvSpPr>
        <p:spPr>
          <a:xfrm>
            <a:off x="4723250" y="1820125"/>
            <a:ext cx="41091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lang="en-ID" sz="1800">
                <a:solidFill>
                  <a:schemeClr val="dk1"/>
                </a:solidFill>
                <a:latin typeface="Poppins"/>
                <a:ea typeface="Poppins"/>
                <a:cs typeface="Poppins"/>
                <a:sym typeface="Poppins"/>
              </a:rPr>
              <a:t>7</a:t>
            </a:r>
            <a:r>
              <a:rPr b="1" i="0" lang="en-ID" sz="1800" u="none" cap="none" strike="noStrike">
                <a:solidFill>
                  <a:schemeClr val="dk1"/>
                </a:solidFill>
                <a:latin typeface="Poppins"/>
                <a:ea typeface="Poppins"/>
                <a:cs typeface="Poppins"/>
                <a:sym typeface="Poppins"/>
              </a:rPr>
              <a:t>. Google Looker Studio</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lang="en-ID" sz="1800">
                <a:solidFill>
                  <a:schemeClr val="dk1"/>
                </a:solidFill>
                <a:latin typeface="Poppins"/>
                <a:ea typeface="Poppins"/>
                <a:cs typeface="Poppins"/>
                <a:sym typeface="Poppins"/>
              </a:rPr>
              <a:t>8</a:t>
            </a:r>
            <a:r>
              <a:rPr b="1" i="0" lang="en-ID" sz="1800" u="none" cap="none" strike="noStrike">
                <a:solidFill>
                  <a:schemeClr val="dk1"/>
                </a:solidFill>
                <a:latin typeface="Poppins"/>
                <a:ea typeface="Poppins"/>
                <a:cs typeface="Poppins"/>
                <a:sym typeface="Poppins"/>
              </a:rPr>
              <a:t>. Pengumpulan data</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lang="en-ID" sz="1800">
                <a:solidFill>
                  <a:schemeClr val="dk1"/>
                </a:solidFill>
                <a:latin typeface="Poppins"/>
                <a:ea typeface="Poppins"/>
                <a:cs typeface="Poppins"/>
                <a:sym typeface="Poppins"/>
              </a:rPr>
              <a:t>9</a:t>
            </a:r>
            <a:r>
              <a:rPr b="1" i="0" lang="en-ID" sz="1800" u="none" cap="none" strike="noStrike">
                <a:solidFill>
                  <a:schemeClr val="dk1"/>
                </a:solidFill>
                <a:latin typeface="Poppins"/>
                <a:ea typeface="Poppins"/>
                <a:cs typeface="Poppins"/>
                <a:sym typeface="Poppins"/>
              </a:rPr>
              <a:t>. Pengoperasian</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lang="en-ID" sz="1800">
                <a:solidFill>
                  <a:schemeClr val="dk1"/>
                </a:solidFill>
                <a:latin typeface="Poppins"/>
                <a:ea typeface="Poppins"/>
                <a:cs typeface="Poppins"/>
                <a:sym typeface="Poppins"/>
              </a:rPr>
              <a:t>10</a:t>
            </a:r>
            <a:r>
              <a:rPr b="1" i="0" lang="en-ID" sz="1800" u="none" cap="none" strike="noStrike">
                <a:solidFill>
                  <a:schemeClr val="dk1"/>
                </a:solidFill>
                <a:latin typeface="Poppins"/>
                <a:ea typeface="Poppins"/>
                <a:cs typeface="Poppins"/>
                <a:sym typeface="Poppins"/>
              </a:rPr>
              <a:t>. Data visualization. </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i="0" lang="en-ID" sz="1800" u="none" cap="none" strike="noStrike">
                <a:solidFill>
                  <a:schemeClr val="dk1"/>
                </a:solidFill>
                <a:latin typeface="Poppins"/>
                <a:ea typeface="Poppins"/>
                <a:cs typeface="Poppins"/>
                <a:sym typeface="Poppins"/>
              </a:rPr>
              <a:t>1</a:t>
            </a:r>
            <a:r>
              <a:rPr b="1" lang="en-ID" sz="1800">
                <a:solidFill>
                  <a:schemeClr val="dk1"/>
                </a:solidFill>
                <a:latin typeface="Poppins"/>
                <a:ea typeface="Poppins"/>
                <a:cs typeface="Poppins"/>
                <a:sym typeface="Poppins"/>
              </a:rPr>
              <a:t>1</a:t>
            </a:r>
            <a:r>
              <a:rPr b="1" i="0" lang="en-ID" sz="1800" u="none" cap="none" strike="noStrike">
                <a:solidFill>
                  <a:schemeClr val="dk1"/>
                </a:solidFill>
                <a:latin typeface="Poppins"/>
                <a:ea typeface="Poppins"/>
                <a:cs typeface="Poppins"/>
                <a:sym typeface="Poppins"/>
              </a:rPr>
              <a:t>. Peluang karir Data Analyst </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i="0" lang="en-ID" sz="1800" u="none" cap="none" strike="noStrike">
                <a:solidFill>
                  <a:schemeClr val="dk1"/>
                </a:solidFill>
                <a:latin typeface="Poppins"/>
                <a:ea typeface="Poppins"/>
                <a:cs typeface="Poppins"/>
                <a:sym typeface="Poppins"/>
              </a:rPr>
              <a:t>1</a:t>
            </a:r>
            <a:r>
              <a:rPr b="1" lang="en-ID" sz="1800">
                <a:solidFill>
                  <a:schemeClr val="dk1"/>
                </a:solidFill>
                <a:latin typeface="Poppins"/>
                <a:ea typeface="Poppins"/>
                <a:cs typeface="Poppins"/>
                <a:sym typeface="Poppins"/>
              </a:rPr>
              <a:t>2</a:t>
            </a:r>
            <a:r>
              <a:rPr b="1" i="0" lang="en-ID" sz="1800" u="none" cap="none" strike="noStrike">
                <a:solidFill>
                  <a:schemeClr val="dk1"/>
                </a:solidFill>
                <a:latin typeface="Poppins"/>
                <a:ea typeface="Poppins"/>
                <a:cs typeface="Poppins"/>
                <a:sym typeface="Poppins"/>
              </a:rPr>
              <a:t>. Case study &amp; quiz.</a:t>
            </a:r>
            <a:endParaRPr b="1"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400"/>
              <a:buFont typeface="Arial"/>
              <a:buNone/>
            </a:pPr>
            <a:r>
              <a:rPr b="1" i="0" lang="en-ID" sz="1800" u="none" cap="none" strike="noStrike">
                <a:solidFill>
                  <a:schemeClr val="dk1"/>
                </a:solidFill>
                <a:latin typeface="Poppins"/>
                <a:ea typeface="Poppins"/>
                <a:cs typeface="Poppins"/>
                <a:sym typeface="Poppins"/>
              </a:rPr>
              <a:t>1</a:t>
            </a:r>
            <a:r>
              <a:rPr b="1" lang="en-ID" sz="1800">
                <a:solidFill>
                  <a:schemeClr val="dk1"/>
                </a:solidFill>
                <a:latin typeface="Poppins"/>
                <a:ea typeface="Poppins"/>
                <a:cs typeface="Poppins"/>
                <a:sym typeface="Poppins"/>
              </a:rPr>
              <a:t>3</a:t>
            </a:r>
            <a:r>
              <a:rPr b="1" i="0" lang="en-ID" sz="1800" u="none" cap="none" strike="noStrike">
                <a:solidFill>
                  <a:schemeClr val="dk1"/>
                </a:solidFill>
                <a:latin typeface="Poppins"/>
                <a:ea typeface="Poppins"/>
                <a:cs typeface="Poppins"/>
                <a:sym typeface="Poppins"/>
              </a:rPr>
              <a:t>. Data visualization using Power BI</a:t>
            </a:r>
            <a:endParaRPr b="1" i="0" sz="1800" u="none" cap="none" strike="noStrike">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5"/>
          <p:cNvSpPr txBox="1"/>
          <p:nvPr/>
        </p:nvSpPr>
        <p:spPr>
          <a:xfrm>
            <a:off x="1722900" y="1575475"/>
            <a:ext cx="5986200" cy="1262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Poppins"/>
              <a:buChar char="●"/>
            </a:pPr>
            <a:r>
              <a:rPr b="0" i="0" lang="en-ID" sz="1400" u="none" cap="none" strike="noStrike">
                <a:solidFill>
                  <a:schemeClr val="dk1"/>
                </a:solidFill>
                <a:latin typeface="Poppins"/>
                <a:ea typeface="Poppins"/>
                <a:cs typeface="Poppins"/>
                <a:sym typeface="Poppins"/>
              </a:rPr>
              <a:t>Penyelenggara                : Karirnex </a:t>
            </a:r>
            <a:endParaRPr b="0" i="0" sz="1400" u="none" cap="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chemeClr val="dk1"/>
              </a:buClr>
              <a:buSzPts val="1400"/>
              <a:buFont typeface="Poppins"/>
              <a:buChar char="●"/>
            </a:pPr>
            <a:r>
              <a:rPr b="0" i="0" lang="en-ID" sz="1400" u="none" cap="none" strike="noStrike">
                <a:solidFill>
                  <a:schemeClr val="dk1"/>
                </a:solidFill>
                <a:latin typeface="Poppins"/>
                <a:ea typeface="Poppins"/>
                <a:cs typeface="Poppins"/>
                <a:sym typeface="Poppins"/>
              </a:rPr>
              <a:t>Tanggal                             : 8, 14, 15 Maret 2026</a:t>
            </a:r>
            <a:endParaRPr b="0" i="0" sz="1400" u="none" cap="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chemeClr val="dk1"/>
              </a:buClr>
              <a:buSzPts val="1400"/>
              <a:buFont typeface="Poppins"/>
              <a:buChar char="●"/>
            </a:pPr>
            <a:r>
              <a:rPr b="0" i="0" lang="en-ID" sz="1400" u="none" cap="none" strike="noStrike">
                <a:solidFill>
                  <a:schemeClr val="dk1"/>
                </a:solidFill>
                <a:latin typeface="Poppins"/>
                <a:ea typeface="Poppins"/>
                <a:cs typeface="Poppins"/>
                <a:sym typeface="Poppins"/>
              </a:rPr>
              <a:t>Total Jam Belajar            : 10 Jam</a:t>
            </a:r>
            <a:endParaRPr b="0" i="0" sz="1400" u="none" cap="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chemeClr val="dk1"/>
              </a:buClr>
              <a:buSzPts val="1400"/>
              <a:buFont typeface="Poppins"/>
              <a:buChar char="●"/>
            </a:pPr>
            <a:r>
              <a:rPr b="0" i="0" lang="en-ID" sz="1400" u="none" cap="none" strike="noStrike">
                <a:solidFill>
                  <a:schemeClr val="dk1"/>
                </a:solidFill>
                <a:latin typeface="Poppins"/>
                <a:ea typeface="Poppins"/>
                <a:cs typeface="Poppins"/>
                <a:sym typeface="Poppins"/>
              </a:rPr>
              <a:t>Total Jam Mini Project    : 5 Jam</a:t>
            </a:r>
            <a:endParaRPr b="0" i="0" sz="1400" u="none" cap="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chemeClr val="dk1"/>
              </a:buClr>
              <a:buSzPts val="1400"/>
              <a:buFont typeface="Poppins"/>
              <a:buChar char="●"/>
            </a:pPr>
            <a:r>
              <a:rPr b="0" i="0" lang="en-ID" sz="1400" u="none" cap="none" strike="noStrike">
                <a:solidFill>
                  <a:schemeClr val="dk1"/>
                </a:solidFill>
                <a:latin typeface="Poppins"/>
                <a:ea typeface="Poppins"/>
                <a:cs typeface="Poppins"/>
                <a:sym typeface="Poppins"/>
              </a:rPr>
              <a:t>Hasil Utama                      : Sertifikat Berpredikat, Mini Project</a:t>
            </a:r>
            <a:endParaRPr b="0" i="0" sz="1400" u="none" cap="none" strike="noStrike">
              <a:solidFill>
                <a:schemeClr val="dk1"/>
              </a:solidFill>
              <a:latin typeface="Poppins"/>
              <a:ea typeface="Poppins"/>
              <a:cs typeface="Poppins"/>
              <a:sym typeface="Poppins"/>
            </a:endParaRPr>
          </a:p>
        </p:txBody>
      </p:sp>
      <p:sp>
        <p:nvSpPr>
          <p:cNvPr id="91" name="Google Shape;91;p5"/>
          <p:cNvSpPr txBox="1"/>
          <p:nvPr/>
        </p:nvSpPr>
        <p:spPr>
          <a:xfrm>
            <a:off x="285300" y="713575"/>
            <a:ext cx="86991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ID" sz="4400" u="none" cap="none" strike="noStrike">
                <a:solidFill>
                  <a:schemeClr val="dk1"/>
                </a:solidFill>
                <a:latin typeface="Poppins"/>
                <a:ea typeface="Poppins"/>
                <a:cs typeface="Poppins"/>
                <a:sym typeface="Poppins"/>
              </a:rPr>
              <a:t>Ringkasan Bootcamp</a:t>
            </a:r>
            <a:endParaRPr b="1" i="0" sz="4400" u="none" cap="none" strike="noStrike">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6"/>
          <p:cNvSpPr txBox="1"/>
          <p:nvPr/>
        </p:nvSpPr>
        <p:spPr>
          <a:xfrm>
            <a:off x="794100" y="642375"/>
            <a:ext cx="7555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D" sz="2400" u="none" cap="none" strike="noStrike">
                <a:solidFill>
                  <a:schemeClr val="lt1"/>
                </a:solidFill>
                <a:latin typeface="Poppins"/>
                <a:ea typeface="Poppins"/>
                <a:cs typeface="Poppins"/>
                <a:sym typeface="Poppins"/>
              </a:rPr>
              <a:t>Dummy Data</a:t>
            </a:r>
            <a:endParaRPr b="1" i="0" sz="2400" u="none" cap="none" strike="noStrike">
              <a:solidFill>
                <a:schemeClr val="lt1"/>
              </a:solidFill>
              <a:latin typeface="Poppins"/>
              <a:ea typeface="Poppins"/>
              <a:cs typeface="Poppins"/>
              <a:sym typeface="Poppins"/>
            </a:endParaRPr>
          </a:p>
        </p:txBody>
      </p:sp>
      <p:pic>
        <p:nvPicPr>
          <p:cNvPr id="97" name="Google Shape;97;p6"/>
          <p:cNvPicPr preferRelativeResize="0"/>
          <p:nvPr/>
        </p:nvPicPr>
        <p:blipFill rotWithShape="1">
          <a:blip r:embed="rId4">
            <a:alphaModFix/>
          </a:blip>
          <a:srcRect b="0" l="0" r="0" t="0"/>
          <a:stretch/>
        </p:blipFill>
        <p:spPr>
          <a:xfrm>
            <a:off x="878766" y="1144520"/>
            <a:ext cx="7386467" cy="360935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7"/>
          <p:cNvSpPr txBox="1"/>
          <p:nvPr/>
        </p:nvSpPr>
        <p:spPr>
          <a:xfrm>
            <a:off x="794100" y="527450"/>
            <a:ext cx="7555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D" sz="2400" u="none" cap="none" strike="noStrike">
                <a:solidFill>
                  <a:schemeClr val="lt1"/>
                </a:solidFill>
                <a:latin typeface="Poppins"/>
                <a:ea typeface="Poppins"/>
                <a:cs typeface="Poppins"/>
                <a:sym typeface="Poppins"/>
              </a:rPr>
              <a:t>TASK DAY 1</a:t>
            </a:r>
            <a:endParaRPr b="1" i="0" sz="2400" u="none" cap="none" strike="noStrike">
              <a:solidFill>
                <a:schemeClr val="lt1"/>
              </a:solidFill>
              <a:latin typeface="Poppins"/>
              <a:ea typeface="Poppins"/>
              <a:cs typeface="Poppins"/>
              <a:sym typeface="Poppins"/>
            </a:endParaRPr>
          </a:p>
        </p:txBody>
      </p:sp>
      <p:pic>
        <p:nvPicPr>
          <p:cNvPr id="103" name="Google Shape;103;p7" title="2026-03-15 (1).png"/>
          <p:cNvPicPr preferRelativeResize="0"/>
          <p:nvPr/>
        </p:nvPicPr>
        <p:blipFill rotWithShape="1">
          <a:blip r:embed="rId4">
            <a:alphaModFix/>
          </a:blip>
          <a:srcRect b="0" l="0" r="0" t="0"/>
          <a:stretch/>
        </p:blipFill>
        <p:spPr>
          <a:xfrm>
            <a:off x="1318625" y="1081550"/>
            <a:ext cx="6506751" cy="3642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8"/>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RESULT</a:t>
            </a:r>
            <a:endParaRPr b="0" i="0" sz="1400" u="none" cap="none" strike="noStrike">
              <a:solidFill>
                <a:schemeClr val="dk1"/>
              </a:solidFill>
              <a:latin typeface="Arial"/>
              <a:ea typeface="Arial"/>
              <a:cs typeface="Arial"/>
              <a:sym typeface="Arial"/>
            </a:endParaRPr>
          </a:p>
        </p:txBody>
      </p:sp>
      <p:pic>
        <p:nvPicPr>
          <p:cNvPr id="109" name="Google Shape;109;p8"/>
          <p:cNvPicPr preferRelativeResize="0"/>
          <p:nvPr/>
        </p:nvPicPr>
        <p:blipFill rotWithShape="1">
          <a:blip r:embed="rId4">
            <a:alphaModFix/>
          </a:blip>
          <a:srcRect b="14737" l="0" r="0" t="0"/>
          <a:stretch/>
        </p:blipFill>
        <p:spPr>
          <a:xfrm>
            <a:off x="1482867" y="1269837"/>
            <a:ext cx="6178266" cy="34476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9"/>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SQL QUERY</a:t>
            </a:r>
            <a:endParaRPr b="0" i="0" sz="1400" u="none" cap="none" strike="noStrike">
              <a:solidFill>
                <a:schemeClr val="dk1"/>
              </a:solidFill>
              <a:latin typeface="Arial"/>
              <a:ea typeface="Arial"/>
              <a:cs typeface="Arial"/>
              <a:sym typeface="Arial"/>
            </a:endParaRPr>
          </a:p>
        </p:txBody>
      </p:sp>
      <p:pic>
        <p:nvPicPr>
          <p:cNvPr id="115" name="Google Shape;115;p9"/>
          <p:cNvPicPr preferRelativeResize="0"/>
          <p:nvPr/>
        </p:nvPicPr>
        <p:blipFill rotWithShape="1">
          <a:blip r:embed="rId4">
            <a:alphaModFix/>
          </a:blip>
          <a:srcRect b="0" l="0" r="598" t="0"/>
          <a:stretch/>
        </p:blipFill>
        <p:spPr>
          <a:xfrm>
            <a:off x="348665" y="1609590"/>
            <a:ext cx="8446670" cy="19243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10"/>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RESULT</a:t>
            </a:r>
            <a:endParaRPr b="0" i="0" sz="1400" u="none" cap="none" strike="noStrike">
              <a:solidFill>
                <a:schemeClr val="dk1"/>
              </a:solidFill>
              <a:latin typeface="Arial"/>
              <a:ea typeface="Arial"/>
              <a:cs typeface="Arial"/>
              <a:sym typeface="Arial"/>
            </a:endParaRPr>
          </a:p>
        </p:txBody>
      </p:sp>
      <p:pic>
        <p:nvPicPr>
          <p:cNvPr id="121" name="Google Shape;121;p10"/>
          <p:cNvPicPr preferRelativeResize="0"/>
          <p:nvPr/>
        </p:nvPicPr>
        <p:blipFill rotWithShape="1">
          <a:blip r:embed="rId4">
            <a:alphaModFix/>
          </a:blip>
          <a:srcRect b="0" l="0" r="0" t="866"/>
          <a:stretch/>
        </p:blipFill>
        <p:spPr>
          <a:xfrm>
            <a:off x="1491571" y="1236518"/>
            <a:ext cx="6160858" cy="3448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11"/>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SQL QUERY</a:t>
            </a:r>
            <a:endParaRPr b="0" i="0" sz="1400" u="none" cap="none" strike="noStrike">
              <a:solidFill>
                <a:schemeClr val="dk1"/>
              </a:solidFill>
              <a:latin typeface="Arial"/>
              <a:ea typeface="Arial"/>
              <a:cs typeface="Arial"/>
              <a:sym typeface="Arial"/>
            </a:endParaRPr>
          </a:p>
        </p:txBody>
      </p:sp>
      <p:pic>
        <p:nvPicPr>
          <p:cNvPr id="127" name="Google Shape;127;p11"/>
          <p:cNvPicPr preferRelativeResize="0"/>
          <p:nvPr/>
        </p:nvPicPr>
        <p:blipFill rotWithShape="1">
          <a:blip r:embed="rId4">
            <a:alphaModFix/>
          </a:blip>
          <a:srcRect b="16177" l="5681" r="5909" t="16849"/>
          <a:stretch/>
        </p:blipFill>
        <p:spPr>
          <a:xfrm>
            <a:off x="529935" y="1722985"/>
            <a:ext cx="8084129" cy="20677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12"/>
          <p:cNvSpPr txBox="1"/>
          <p:nvPr/>
        </p:nvSpPr>
        <p:spPr>
          <a:xfrm>
            <a:off x="794100" y="524750"/>
            <a:ext cx="7555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D" sz="2400" u="none" cap="none" strike="noStrike">
                <a:solidFill>
                  <a:schemeClr val="lt1"/>
                </a:solidFill>
                <a:latin typeface="Poppins"/>
                <a:ea typeface="Poppins"/>
                <a:cs typeface="Poppins"/>
                <a:sym typeface="Poppins"/>
              </a:rPr>
              <a:t>TASK DAY 2</a:t>
            </a:r>
            <a:endParaRPr b="1" i="0" sz="2400" u="none" cap="none" strike="noStrike">
              <a:solidFill>
                <a:schemeClr val="lt1"/>
              </a:solidFill>
              <a:latin typeface="Poppins"/>
              <a:ea typeface="Poppins"/>
              <a:cs typeface="Poppins"/>
              <a:sym typeface="Poppins"/>
            </a:endParaRPr>
          </a:p>
        </p:txBody>
      </p:sp>
      <p:pic>
        <p:nvPicPr>
          <p:cNvPr id="133" name="Google Shape;133;p12" title="12.jpeg"/>
          <p:cNvPicPr preferRelativeResize="0"/>
          <p:nvPr/>
        </p:nvPicPr>
        <p:blipFill rotWithShape="1">
          <a:blip r:embed="rId4">
            <a:alphaModFix/>
          </a:blip>
          <a:srcRect b="0" l="0" r="0" t="0"/>
          <a:stretch/>
        </p:blipFill>
        <p:spPr>
          <a:xfrm>
            <a:off x="1334463" y="1078850"/>
            <a:ext cx="6475068" cy="3642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13"/>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RESULT</a:t>
            </a:r>
            <a:endParaRPr b="0" i="0" sz="1400" u="none" cap="none" strike="noStrike">
              <a:solidFill>
                <a:schemeClr val="dk1"/>
              </a:solidFill>
              <a:latin typeface="Arial"/>
              <a:ea typeface="Arial"/>
              <a:cs typeface="Arial"/>
              <a:sym typeface="Arial"/>
            </a:endParaRPr>
          </a:p>
        </p:txBody>
      </p:sp>
      <p:pic>
        <p:nvPicPr>
          <p:cNvPr id="139" name="Google Shape;139;p13"/>
          <p:cNvPicPr preferRelativeResize="0"/>
          <p:nvPr/>
        </p:nvPicPr>
        <p:blipFill rotWithShape="1">
          <a:blip r:embed="rId4">
            <a:alphaModFix/>
          </a:blip>
          <a:srcRect b="0" l="0" r="0" t="0"/>
          <a:stretch/>
        </p:blipFill>
        <p:spPr>
          <a:xfrm>
            <a:off x="1688937" y="1797627"/>
            <a:ext cx="5766123" cy="2356814"/>
          </a:xfrm>
          <a:prstGeom prst="rect">
            <a:avLst/>
          </a:prstGeom>
          <a:noFill/>
          <a:ln>
            <a:noFill/>
          </a:ln>
        </p:spPr>
      </p:pic>
      <p:sp>
        <p:nvSpPr>
          <p:cNvPr id="140" name="Google Shape;140;p13"/>
          <p:cNvSpPr txBox="1"/>
          <p:nvPr/>
        </p:nvSpPr>
        <p:spPr>
          <a:xfrm>
            <a:off x="1855191" y="1352725"/>
            <a:ext cx="5766123" cy="29469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ID" sz="1200" u="none" cap="none" strike="noStrike">
                <a:solidFill>
                  <a:srgbClr val="000000"/>
                </a:solidFill>
                <a:latin typeface="Poppins"/>
                <a:ea typeface="Poppins"/>
                <a:cs typeface="Poppins"/>
                <a:sym typeface="Poppins"/>
              </a:rPr>
              <a:t>Q7: Top 10 Customer berdasarkan Total Belanja dan Jumlah Order</a:t>
            </a:r>
            <a:endParaRPr b="0" i="0" sz="1200" u="none" cap="none" strike="noStrik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14"/>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RESULT</a:t>
            </a:r>
            <a:endParaRPr b="0" i="0" sz="1400" u="none" cap="none" strike="noStrike">
              <a:solidFill>
                <a:schemeClr val="dk1"/>
              </a:solidFill>
              <a:latin typeface="Arial"/>
              <a:ea typeface="Arial"/>
              <a:cs typeface="Arial"/>
              <a:sym typeface="Arial"/>
            </a:endParaRPr>
          </a:p>
        </p:txBody>
      </p:sp>
      <p:sp>
        <p:nvSpPr>
          <p:cNvPr id="146" name="Google Shape;146;p14"/>
          <p:cNvSpPr txBox="1"/>
          <p:nvPr/>
        </p:nvSpPr>
        <p:spPr>
          <a:xfrm>
            <a:off x="1688936" y="1352725"/>
            <a:ext cx="5766123" cy="29469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ID" sz="1200" u="none" cap="none" strike="noStrike">
                <a:solidFill>
                  <a:srgbClr val="000000"/>
                </a:solidFill>
                <a:latin typeface="Poppins"/>
                <a:ea typeface="Poppins"/>
                <a:cs typeface="Poppins"/>
                <a:sym typeface="Poppins"/>
              </a:rPr>
              <a:t>Q8:  Kategori mana saja yang mendominasi di masing masing channel</a:t>
            </a:r>
            <a:endParaRPr b="0" i="0" sz="1200" u="none" cap="none" strike="noStrike">
              <a:solidFill>
                <a:srgbClr val="000000"/>
              </a:solidFill>
              <a:latin typeface="Poppins"/>
              <a:ea typeface="Poppins"/>
              <a:cs typeface="Poppins"/>
              <a:sym typeface="Poppins"/>
            </a:endParaRPr>
          </a:p>
        </p:txBody>
      </p:sp>
      <p:pic>
        <p:nvPicPr>
          <p:cNvPr id="147" name="Google Shape;147;p14"/>
          <p:cNvPicPr preferRelativeResize="0"/>
          <p:nvPr/>
        </p:nvPicPr>
        <p:blipFill rotWithShape="1">
          <a:blip r:embed="rId4">
            <a:alphaModFix/>
          </a:blip>
          <a:srcRect b="0" l="0" r="0" t="0"/>
          <a:stretch/>
        </p:blipFill>
        <p:spPr>
          <a:xfrm>
            <a:off x="289912" y="1801799"/>
            <a:ext cx="8564170" cy="22672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15"/>
          <p:cNvSpPr txBox="1"/>
          <p:nvPr/>
        </p:nvSpPr>
        <p:spPr>
          <a:xfrm>
            <a:off x="794100" y="503375"/>
            <a:ext cx="7555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D" sz="2400" u="none" cap="none" strike="noStrike">
                <a:solidFill>
                  <a:schemeClr val="lt1"/>
                </a:solidFill>
                <a:latin typeface="Poppins"/>
                <a:ea typeface="Poppins"/>
                <a:cs typeface="Poppins"/>
                <a:sym typeface="Poppins"/>
              </a:rPr>
              <a:t>TASK DAY 3</a:t>
            </a:r>
            <a:endParaRPr b="1" i="0" sz="2400" u="none" cap="none" strike="noStrike">
              <a:solidFill>
                <a:schemeClr val="lt1"/>
              </a:solidFill>
              <a:latin typeface="Poppins"/>
              <a:ea typeface="Poppins"/>
              <a:cs typeface="Poppins"/>
              <a:sym typeface="Poppins"/>
            </a:endParaRPr>
          </a:p>
        </p:txBody>
      </p:sp>
      <p:pic>
        <p:nvPicPr>
          <p:cNvPr id="153" name="Google Shape;153;p15" title="2026-03-15.png"/>
          <p:cNvPicPr preferRelativeResize="0"/>
          <p:nvPr/>
        </p:nvPicPr>
        <p:blipFill rotWithShape="1">
          <a:blip r:embed="rId4">
            <a:alphaModFix/>
          </a:blip>
          <a:srcRect b="0" l="0" r="0" t="0"/>
          <a:stretch/>
        </p:blipFill>
        <p:spPr>
          <a:xfrm>
            <a:off x="1318625" y="1102925"/>
            <a:ext cx="6506751" cy="3642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16"/>
          <p:cNvSpPr txBox="1"/>
          <p:nvPr/>
        </p:nvSpPr>
        <p:spPr>
          <a:xfrm>
            <a:off x="3072000" y="67562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ID" sz="3200" u="none" cap="none" strike="noStrike">
                <a:solidFill>
                  <a:schemeClr val="dk1"/>
                </a:solidFill>
                <a:latin typeface="Poppins"/>
                <a:ea typeface="Poppins"/>
                <a:cs typeface="Poppins"/>
                <a:sym typeface="Poppins"/>
              </a:rPr>
              <a:t>RESULT</a:t>
            </a:r>
            <a:endParaRPr b="0" i="0" sz="1400" u="none" cap="none" strike="noStrike">
              <a:solidFill>
                <a:schemeClr val="dk1"/>
              </a:solidFill>
              <a:latin typeface="Arial"/>
              <a:ea typeface="Arial"/>
              <a:cs typeface="Arial"/>
              <a:sym typeface="Arial"/>
            </a:endParaRPr>
          </a:p>
        </p:txBody>
      </p:sp>
      <p:sp>
        <p:nvSpPr>
          <p:cNvPr id="159" name="Google Shape;159;p16"/>
          <p:cNvSpPr txBox="1"/>
          <p:nvPr/>
        </p:nvSpPr>
        <p:spPr>
          <a:xfrm>
            <a:off x="2014536" y="1194425"/>
            <a:ext cx="5114925" cy="71942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5000"/>
              </a:lnSpc>
              <a:spcBef>
                <a:spcPts val="0"/>
              </a:spcBef>
              <a:spcAft>
                <a:spcPts val="0"/>
              </a:spcAft>
              <a:buClr>
                <a:srgbClr val="000000"/>
              </a:buClr>
              <a:buSzPts val="1200"/>
              <a:buFont typeface="Arial"/>
              <a:buAutoNum type="arabicPeriod"/>
            </a:pPr>
            <a:r>
              <a:rPr b="1" i="0" lang="en-ID" sz="1200" u="none" cap="none" strike="noStrike">
                <a:solidFill>
                  <a:srgbClr val="000000"/>
                </a:solidFill>
                <a:latin typeface="Poppins"/>
                <a:ea typeface="Poppins"/>
                <a:cs typeface="Poppins"/>
                <a:sym typeface="Poppins"/>
              </a:rPr>
              <a:t>Berapa persentase success rate pada tahun ini?</a:t>
            </a:r>
            <a:endParaRPr b="0" i="0" sz="1200" u="none" cap="none" strike="noStrike">
              <a:solidFill>
                <a:srgbClr val="000000"/>
              </a:solidFill>
              <a:latin typeface="Poppins"/>
              <a:ea typeface="Poppins"/>
              <a:cs typeface="Poppins"/>
              <a:sym typeface="Poppins"/>
            </a:endParaRPr>
          </a:p>
          <a:p>
            <a:pPr indent="-342900" lvl="0" marL="342900" marR="0" rtl="0" algn="l">
              <a:lnSpc>
                <a:spcPct val="115000"/>
              </a:lnSpc>
              <a:spcBef>
                <a:spcPts val="0"/>
              </a:spcBef>
              <a:spcAft>
                <a:spcPts val="0"/>
              </a:spcAft>
              <a:buClr>
                <a:srgbClr val="000000"/>
              </a:buClr>
              <a:buSzPts val="1200"/>
              <a:buFont typeface="Arial"/>
              <a:buAutoNum type="arabicPeriod"/>
            </a:pPr>
            <a:r>
              <a:rPr b="1" i="0" lang="en-ID" sz="1200" u="none" cap="none" strike="noStrike">
                <a:solidFill>
                  <a:srgbClr val="000000"/>
                </a:solidFill>
                <a:latin typeface="Poppins"/>
                <a:ea typeface="Poppins"/>
                <a:cs typeface="Poppins"/>
                <a:sym typeface="Poppins"/>
              </a:rPr>
              <a:t>Channel mana yang mendominasi penjualan di tahun ini?</a:t>
            </a:r>
            <a:endParaRPr b="0" i="0" sz="1200" u="none" cap="none" strike="noStrike">
              <a:solidFill>
                <a:srgbClr val="000000"/>
              </a:solidFill>
              <a:latin typeface="Poppins"/>
              <a:ea typeface="Poppins"/>
              <a:cs typeface="Poppins"/>
              <a:sym typeface="Poppins"/>
            </a:endParaRPr>
          </a:p>
          <a:p>
            <a:pPr indent="-342900" lvl="0" marL="342900" marR="0" rtl="0" algn="l">
              <a:lnSpc>
                <a:spcPct val="115000"/>
              </a:lnSpc>
              <a:spcBef>
                <a:spcPts val="0"/>
              </a:spcBef>
              <a:spcAft>
                <a:spcPts val="0"/>
              </a:spcAft>
              <a:buClr>
                <a:srgbClr val="000000"/>
              </a:buClr>
              <a:buSzPts val="1200"/>
              <a:buFont typeface="Arial"/>
              <a:buAutoNum type="arabicPeriod"/>
            </a:pPr>
            <a:r>
              <a:rPr b="1" i="0" lang="en-ID" sz="1200" u="none" cap="none" strike="noStrike">
                <a:solidFill>
                  <a:srgbClr val="000000"/>
                </a:solidFill>
                <a:latin typeface="Poppins"/>
                <a:ea typeface="Poppins"/>
                <a:cs typeface="Poppins"/>
                <a:sym typeface="Poppins"/>
              </a:rPr>
              <a:t>Kategori produk mana yang paling diminati di tahun ini?</a:t>
            </a:r>
            <a:endParaRPr b="0" i="0" sz="1200" u="none" cap="none" strike="noStrike">
              <a:solidFill>
                <a:srgbClr val="000000"/>
              </a:solidFill>
              <a:latin typeface="Poppins"/>
              <a:ea typeface="Poppins"/>
              <a:cs typeface="Poppins"/>
              <a:sym typeface="Poppins"/>
            </a:endParaRPr>
          </a:p>
        </p:txBody>
      </p:sp>
      <p:pic>
        <p:nvPicPr>
          <p:cNvPr id="160" name="Google Shape;160;p16" title="Screenshot1 2026-08-28 234615.png"/>
          <p:cNvPicPr preferRelativeResize="0"/>
          <p:nvPr/>
        </p:nvPicPr>
        <p:blipFill>
          <a:blip r:embed="rId4">
            <a:alphaModFix/>
          </a:blip>
          <a:stretch>
            <a:fillRect/>
          </a:stretch>
        </p:blipFill>
        <p:spPr>
          <a:xfrm>
            <a:off x="2014525" y="1913850"/>
            <a:ext cx="5028186" cy="2860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8" title="BT Data Analyst (10).png"/>
          <p:cNvPicPr preferRelativeResize="0"/>
          <p:nvPr/>
        </p:nvPicPr>
        <p:blipFill rotWithShape="1">
          <a:blip r:embed="rId3">
            <a:alphaModFix/>
          </a:blip>
          <a:srcRect b="0" l="0" r="0" t="0"/>
          <a:stretch/>
        </p:blipFill>
        <p:spPr>
          <a:xfrm>
            <a:off x="152400" y="152400"/>
            <a:ext cx="8602133" cy="4838700"/>
          </a:xfrm>
          <a:prstGeom prst="rect">
            <a:avLst/>
          </a:prstGeom>
          <a:noFill/>
          <a:ln>
            <a:noFill/>
          </a:ln>
        </p:spPr>
      </p:pic>
      <p:sp>
        <p:nvSpPr>
          <p:cNvPr id="166" name="Google Shape;166;p18"/>
          <p:cNvSpPr txBox="1"/>
          <p:nvPr/>
        </p:nvSpPr>
        <p:spPr>
          <a:xfrm>
            <a:off x="3145450" y="9192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D" sz="1800" u="none" cap="none" strike="noStrike">
                <a:solidFill>
                  <a:schemeClr val="dk1"/>
                </a:solidFill>
                <a:latin typeface="Poppins"/>
                <a:ea typeface="Poppins"/>
                <a:cs typeface="Poppins"/>
                <a:sym typeface="Poppins"/>
              </a:rPr>
              <a:t>Dokumentasi Kegiatan</a:t>
            </a:r>
            <a:endParaRPr b="1" i="0" sz="1800" u="none" cap="none" strike="noStrike">
              <a:solidFill>
                <a:schemeClr val="dk1"/>
              </a:solidFill>
              <a:latin typeface="Poppins"/>
              <a:ea typeface="Poppins"/>
              <a:cs typeface="Poppins"/>
              <a:sym typeface="Poppins"/>
            </a:endParaRPr>
          </a:p>
        </p:txBody>
      </p:sp>
      <p:pic>
        <p:nvPicPr>
          <p:cNvPr id="167" name="Google Shape;167;p18" title="2026-03-08 (1).png"/>
          <p:cNvPicPr preferRelativeResize="0"/>
          <p:nvPr/>
        </p:nvPicPr>
        <p:blipFill rotWithShape="1">
          <a:blip r:embed="rId4">
            <a:alphaModFix/>
          </a:blip>
          <a:srcRect b="0" l="0" r="0" t="0"/>
          <a:stretch/>
        </p:blipFill>
        <p:spPr>
          <a:xfrm>
            <a:off x="3145450" y="1315275"/>
            <a:ext cx="5078400" cy="2856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9" title="BT Data Analyst (10).png"/>
          <p:cNvPicPr preferRelativeResize="0"/>
          <p:nvPr/>
        </p:nvPicPr>
        <p:blipFill rotWithShape="1">
          <a:blip r:embed="rId3">
            <a:alphaModFix/>
          </a:blip>
          <a:srcRect b="0" l="0" r="0" t="0"/>
          <a:stretch/>
        </p:blipFill>
        <p:spPr>
          <a:xfrm>
            <a:off x="152400" y="152400"/>
            <a:ext cx="8602133" cy="4838700"/>
          </a:xfrm>
          <a:prstGeom prst="rect">
            <a:avLst/>
          </a:prstGeom>
          <a:noFill/>
          <a:ln>
            <a:noFill/>
          </a:ln>
        </p:spPr>
      </p:pic>
      <p:sp>
        <p:nvSpPr>
          <p:cNvPr id="173" name="Google Shape;173;p19"/>
          <p:cNvSpPr txBox="1"/>
          <p:nvPr/>
        </p:nvSpPr>
        <p:spPr>
          <a:xfrm>
            <a:off x="3145450" y="9192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D" sz="1800" u="none" cap="none" strike="noStrike">
                <a:solidFill>
                  <a:schemeClr val="dk1"/>
                </a:solidFill>
                <a:latin typeface="Poppins"/>
                <a:ea typeface="Poppins"/>
                <a:cs typeface="Poppins"/>
                <a:sym typeface="Poppins"/>
              </a:rPr>
              <a:t>Dokumentasi Kegiatan</a:t>
            </a:r>
            <a:endParaRPr b="1" i="0" sz="1800" u="none" cap="none" strike="noStrike">
              <a:solidFill>
                <a:schemeClr val="dk1"/>
              </a:solidFill>
              <a:latin typeface="Poppins"/>
              <a:ea typeface="Poppins"/>
              <a:cs typeface="Poppins"/>
              <a:sym typeface="Poppins"/>
            </a:endParaRPr>
          </a:p>
        </p:txBody>
      </p:sp>
      <p:pic>
        <p:nvPicPr>
          <p:cNvPr id="174" name="Google Shape;174;p19" title="2026-03-14 (1).png"/>
          <p:cNvPicPr preferRelativeResize="0"/>
          <p:nvPr/>
        </p:nvPicPr>
        <p:blipFill rotWithShape="1">
          <a:blip r:embed="rId4">
            <a:alphaModFix/>
          </a:blip>
          <a:srcRect b="0" l="0" r="0" t="0"/>
          <a:stretch/>
        </p:blipFill>
        <p:spPr>
          <a:xfrm>
            <a:off x="3208311" y="1380975"/>
            <a:ext cx="4892491" cy="27520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0" title="BT Data Analyst (5).png"/>
          <p:cNvPicPr preferRelativeResize="0"/>
          <p:nvPr/>
        </p:nvPicPr>
        <p:blipFill rotWithShape="1">
          <a:blip r:embed="rId3">
            <a:alphaModFix/>
          </a:blip>
          <a:srcRect b="0" l="0" r="0" t="0"/>
          <a:stretch/>
        </p:blipFill>
        <p:spPr>
          <a:xfrm>
            <a:off x="152400" y="152400"/>
            <a:ext cx="8602133"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KREISNA</dc:creator>
</cp:coreProperties>
</file>